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8726150" cy="10542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9"/>
  </p:normalViewPr>
  <p:slideViewPr>
    <p:cSldViewPr snapToGrid="0" snapToObjects="1">
      <p:cViewPr>
        <p:scale>
          <a:sx n="73" d="100"/>
          <a:sy n="73" d="100"/>
        </p:scale>
        <p:origin x="776" y="5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rRoboHarness editable framework"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sk and world state band"/>
          <p:cNvSpPr/>
          <p:nvPr/>
        </p:nvSpPr>
        <p:spPr>
          <a:xfrm>
            <a:off x="155448" y="1508760"/>
            <a:ext cx="18406872" cy="1143000"/>
          </a:xfrm>
          <a:prstGeom prst="roundRect">
            <a:avLst>
              <a:gd name="adj" fmla="val 4000"/>
            </a:avLst>
          </a:prstGeom>
          <a:solidFill>
            <a:srgbClr val="FCF6E9"/>
          </a:solidFill>
          <a:ln w="18415">
            <a:solidFill>
              <a:srgbClr val="B17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In-context learning panel"/>
          <p:cNvSpPr/>
          <p:nvPr/>
        </p:nvSpPr>
        <p:spPr>
          <a:xfrm>
            <a:off x="164592" y="2834640"/>
            <a:ext cx="3602736" cy="4562856"/>
          </a:xfrm>
          <a:prstGeom prst="roundRect">
            <a:avLst>
              <a:gd name="adj" fmla="val 4000"/>
            </a:avLst>
          </a:prstGeom>
          <a:solidFill>
            <a:srgbClr val="FFF9EF"/>
          </a:solidFill>
          <a:ln w="15875">
            <a:solidFill>
              <a:srgbClr val="948C7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re panel"/>
          <p:cNvSpPr/>
          <p:nvPr/>
        </p:nvSpPr>
        <p:spPr>
          <a:xfrm>
            <a:off x="4005072" y="2834640"/>
            <a:ext cx="9930384" cy="4059936"/>
          </a:xfrm>
          <a:prstGeom prst="roundRect">
            <a:avLst>
              <a:gd name="adj" fmla="val 4000"/>
            </a:avLst>
          </a:prstGeom>
          <a:solidFill>
            <a:srgbClr val="FFF9EE"/>
          </a:solidFill>
          <a:ln w="21590">
            <a:solidFill>
              <a:srgbClr val="B17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servability panel"/>
          <p:cNvSpPr/>
          <p:nvPr/>
        </p:nvSpPr>
        <p:spPr>
          <a:xfrm>
            <a:off x="14127480" y="2816352"/>
            <a:ext cx="4434840" cy="4626864"/>
          </a:xfrm>
          <a:prstGeom prst="roundRect">
            <a:avLst>
              <a:gd name="adj" fmla="val 4000"/>
            </a:avLst>
          </a:prstGeom>
          <a:solidFill>
            <a:srgbClr val="FFF3EB"/>
          </a:solidFill>
          <a:ln w="17145">
            <a:solidFill>
              <a:srgbClr val="FA8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eployment layer"/>
          <p:cNvSpPr/>
          <p:nvPr/>
        </p:nvSpPr>
        <p:spPr>
          <a:xfrm>
            <a:off x="4005072" y="6986016"/>
            <a:ext cx="9921240" cy="475488"/>
          </a:xfrm>
          <a:prstGeom prst="roundRect">
            <a:avLst>
              <a:gd name="adj" fmla="val 4000"/>
            </a:avLst>
          </a:prstGeom>
          <a:solidFill>
            <a:srgbClr val="F1EEE3"/>
          </a:solidFill>
          <a:ln w="13970">
            <a:solidFill>
              <a:srgbClr val="AAA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uman loop panel"/>
          <p:cNvSpPr/>
          <p:nvPr/>
        </p:nvSpPr>
        <p:spPr>
          <a:xfrm>
            <a:off x="3621024" y="8787384"/>
            <a:ext cx="11466576" cy="1572768"/>
          </a:xfrm>
          <a:prstGeom prst="roundRect">
            <a:avLst>
              <a:gd name="adj" fmla="val 4000"/>
            </a:avLst>
          </a:prstGeom>
          <a:solidFill>
            <a:srgbClr val="FFF9ED"/>
          </a:solidFill>
          <a:ln w="14604">
            <a:solidFill>
              <a:srgbClr val="948C7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Top input to core line 1"/>
          <p:cNvCxnSpPr/>
          <p:nvPr/>
        </p:nvCxnSpPr>
        <p:spPr>
          <a:xfrm>
            <a:off x="9363456" y="2651760"/>
            <a:ext cx="0" cy="173736"/>
          </a:xfrm>
          <a:prstGeom prst="line">
            <a:avLst/>
          </a:prstGeom>
          <a:ln w="26670">
            <a:solidFill>
              <a:srgbClr val="073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op input to core arrow"/>
          <p:cNvSpPr/>
          <p:nvPr/>
        </p:nvSpPr>
        <p:spPr>
          <a:xfrm rot="10800000">
            <a:off x="9290304" y="2752344"/>
            <a:ext cx="146304" cy="146304"/>
          </a:xfrm>
          <a:prstGeom prst="triangle">
            <a:avLst/>
          </a:prstGeom>
          <a:solidFill>
            <a:srgbClr val="07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Learning to core line 1"/>
          <p:cNvCxnSpPr/>
          <p:nvPr/>
        </p:nvCxnSpPr>
        <p:spPr>
          <a:xfrm>
            <a:off x="3758184" y="4892040"/>
            <a:ext cx="237744" cy="0"/>
          </a:xfrm>
          <a:prstGeom prst="line">
            <a:avLst/>
          </a:prstGeom>
          <a:ln w="25400">
            <a:solidFill>
              <a:srgbClr val="073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arning to core arrow"/>
          <p:cNvSpPr/>
          <p:nvPr/>
        </p:nvSpPr>
        <p:spPr>
          <a:xfrm rot="5400000">
            <a:off x="3922776" y="4818888"/>
            <a:ext cx="146304" cy="146304"/>
          </a:xfrm>
          <a:prstGeom prst="triangle">
            <a:avLst/>
          </a:prstGeom>
          <a:solidFill>
            <a:srgbClr val="07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Audit to core line 1"/>
          <p:cNvCxnSpPr/>
          <p:nvPr/>
        </p:nvCxnSpPr>
        <p:spPr>
          <a:xfrm flipH="1">
            <a:off x="13926312" y="4892040"/>
            <a:ext cx="201168" cy="0"/>
          </a:xfrm>
          <a:prstGeom prst="line">
            <a:avLst/>
          </a:prstGeom>
          <a:ln w="25400">
            <a:solidFill>
              <a:srgbClr val="073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udit to core arrow"/>
          <p:cNvSpPr/>
          <p:nvPr/>
        </p:nvSpPr>
        <p:spPr>
          <a:xfrm rot="16200000">
            <a:off x="13853160" y="4818888"/>
            <a:ext cx="146304" cy="146304"/>
          </a:xfrm>
          <a:prstGeom prst="triangle">
            <a:avLst/>
          </a:prstGeom>
          <a:solidFill>
            <a:srgbClr val="07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Reasoner to router line 1"/>
          <p:cNvCxnSpPr/>
          <p:nvPr/>
        </p:nvCxnSpPr>
        <p:spPr>
          <a:xfrm>
            <a:off x="9354312" y="4270248"/>
            <a:ext cx="0" cy="201168"/>
          </a:xfrm>
          <a:prstGeom prst="line">
            <a:avLst/>
          </a:prstGeom>
          <a:ln w="25400">
            <a:solidFill>
              <a:srgbClr val="073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asoner to router arrow"/>
          <p:cNvSpPr/>
          <p:nvPr/>
        </p:nvSpPr>
        <p:spPr>
          <a:xfrm rot="10800000">
            <a:off x="9281160" y="4398264"/>
            <a:ext cx="146304" cy="146304"/>
          </a:xfrm>
          <a:prstGeom prst="triangle">
            <a:avLst/>
          </a:prstGeom>
          <a:solidFill>
            <a:srgbClr val="07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Router branching bus"/>
          <p:cNvCxnSpPr/>
          <p:nvPr/>
        </p:nvCxnSpPr>
        <p:spPr>
          <a:xfrm>
            <a:off x="5303520" y="5266944"/>
            <a:ext cx="7360920" cy="0"/>
          </a:xfrm>
          <a:prstGeom prst="line">
            <a:avLst/>
          </a:prstGeom>
          <a:ln w="24130">
            <a:solidFill>
              <a:srgbClr val="073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outer to mode 580 line 1"/>
          <p:cNvCxnSpPr/>
          <p:nvPr/>
        </p:nvCxnSpPr>
        <p:spPr>
          <a:xfrm>
            <a:off x="5303520" y="5120640"/>
            <a:ext cx="0" cy="374904"/>
          </a:xfrm>
          <a:prstGeom prst="line">
            <a:avLst/>
          </a:prstGeom>
          <a:ln w="22860">
            <a:solidFill>
              <a:srgbClr val="073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ter to mode 580 arrow"/>
          <p:cNvSpPr/>
          <p:nvPr/>
        </p:nvSpPr>
        <p:spPr>
          <a:xfrm rot="10800000">
            <a:off x="5230368" y="5422392"/>
            <a:ext cx="146304" cy="146304"/>
          </a:xfrm>
          <a:prstGeom prst="triangle">
            <a:avLst/>
          </a:prstGeom>
          <a:solidFill>
            <a:srgbClr val="07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Router to mode 853 line 1"/>
          <p:cNvCxnSpPr/>
          <p:nvPr/>
        </p:nvCxnSpPr>
        <p:spPr>
          <a:xfrm>
            <a:off x="7799831" y="5120640"/>
            <a:ext cx="0" cy="374904"/>
          </a:xfrm>
          <a:prstGeom prst="line">
            <a:avLst/>
          </a:prstGeom>
          <a:ln w="22860">
            <a:solidFill>
              <a:srgbClr val="073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ter to mode 853 arrow"/>
          <p:cNvSpPr/>
          <p:nvPr/>
        </p:nvSpPr>
        <p:spPr>
          <a:xfrm rot="10800000">
            <a:off x="7726679" y="5422392"/>
            <a:ext cx="146304" cy="146304"/>
          </a:xfrm>
          <a:prstGeom prst="triangle">
            <a:avLst/>
          </a:prstGeom>
          <a:solidFill>
            <a:srgbClr val="07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Router to mode 1133 line 1"/>
          <p:cNvCxnSpPr/>
          <p:nvPr/>
        </p:nvCxnSpPr>
        <p:spPr>
          <a:xfrm>
            <a:off x="10360152" y="5120640"/>
            <a:ext cx="0" cy="374904"/>
          </a:xfrm>
          <a:prstGeom prst="line">
            <a:avLst/>
          </a:prstGeom>
          <a:ln w="22860">
            <a:solidFill>
              <a:srgbClr val="073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ter to mode 1133 arrow"/>
          <p:cNvSpPr/>
          <p:nvPr/>
        </p:nvSpPr>
        <p:spPr>
          <a:xfrm rot="10800000">
            <a:off x="10287000" y="5422392"/>
            <a:ext cx="146304" cy="146304"/>
          </a:xfrm>
          <a:prstGeom prst="triangle">
            <a:avLst/>
          </a:prstGeom>
          <a:solidFill>
            <a:srgbClr val="07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Router to mode 1385 line 1"/>
          <p:cNvCxnSpPr/>
          <p:nvPr/>
        </p:nvCxnSpPr>
        <p:spPr>
          <a:xfrm>
            <a:off x="12664440" y="5120640"/>
            <a:ext cx="0" cy="374904"/>
          </a:xfrm>
          <a:prstGeom prst="line">
            <a:avLst/>
          </a:prstGeom>
          <a:ln w="22860">
            <a:solidFill>
              <a:srgbClr val="073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ter to mode 1385 arrow"/>
          <p:cNvSpPr/>
          <p:nvPr/>
        </p:nvSpPr>
        <p:spPr>
          <a:xfrm rot="10800000">
            <a:off x="12591288" y="5422392"/>
            <a:ext cx="146304" cy="146304"/>
          </a:xfrm>
          <a:prstGeom prst="triangle">
            <a:avLst/>
          </a:prstGeom>
          <a:solidFill>
            <a:srgbClr val="07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Modes to deployment line 1"/>
          <p:cNvCxnSpPr/>
          <p:nvPr/>
        </p:nvCxnSpPr>
        <p:spPr>
          <a:xfrm>
            <a:off x="9363456" y="6766560"/>
            <a:ext cx="0" cy="219456"/>
          </a:xfrm>
          <a:prstGeom prst="line">
            <a:avLst/>
          </a:prstGeom>
          <a:ln w="25400">
            <a:solidFill>
              <a:srgbClr val="073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Modes to deployment arrow"/>
          <p:cNvSpPr/>
          <p:nvPr/>
        </p:nvSpPr>
        <p:spPr>
          <a:xfrm rot="10800000">
            <a:off x="9290304" y="6912864"/>
            <a:ext cx="146304" cy="146304"/>
          </a:xfrm>
          <a:prstGeom prst="triangle">
            <a:avLst/>
          </a:prstGeom>
          <a:solidFill>
            <a:srgbClr val="07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Deployment output bus"/>
          <p:cNvCxnSpPr/>
          <p:nvPr/>
        </p:nvCxnSpPr>
        <p:spPr>
          <a:xfrm>
            <a:off x="3099816" y="7562088"/>
            <a:ext cx="11868912" cy="0"/>
          </a:xfrm>
          <a:prstGeom prst="line">
            <a:avLst/>
          </a:prstGeom>
          <a:ln w="22860">
            <a:solidFill>
              <a:srgbClr val="073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eployment to bus line 1"/>
          <p:cNvCxnSpPr/>
          <p:nvPr/>
        </p:nvCxnSpPr>
        <p:spPr>
          <a:xfrm>
            <a:off x="9363456" y="7461504"/>
            <a:ext cx="0" cy="100584"/>
          </a:xfrm>
          <a:prstGeom prst="line">
            <a:avLst/>
          </a:prstGeom>
          <a:ln w="24130">
            <a:solidFill>
              <a:srgbClr val="073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Bus output 339 line 1"/>
          <p:cNvCxnSpPr/>
          <p:nvPr/>
        </p:nvCxnSpPr>
        <p:spPr>
          <a:xfrm>
            <a:off x="3099816" y="7562088"/>
            <a:ext cx="0" cy="164591"/>
          </a:xfrm>
          <a:prstGeom prst="line">
            <a:avLst/>
          </a:prstGeom>
          <a:ln w="24130">
            <a:solidFill>
              <a:srgbClr val="073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Bus output 339 arrow"/>
          <p:cNvSpPr/>
          <p:nvPr/>
        </p:nvSpPr>
        <p:spPr>
          <a:xfrm rot="10800000">
            <a:off x="3026664" y="7653527"/>
            <a:ext cx="146304" cy="146304"/>
          </a:xfrm>
          <a:prstGeom prst="triangle">
            <a:avLst/>
          </a:prstGeom>
          <a:solidFill>
            <a:srgbClr val="07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Bus output 764 line 1"/>
          <p:cNvCxnSpPr/>
          <p:nvPr/>
        </p:nvCxnSpPr>
        <p:spPr>
          <a:xfrm>
            <a:off x="6986016" y="7562088"/>
            <a:ext cx="0" cy="164591"/>
          </a:xfrm>
          <a:prstGeom prst="line">
            <a:avLst/>
          </a:prstGeom>
          <a:ln w="24130">
            <a:solidFill>
              <a:srgbClr val="073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Bus output 764 arrow"/>
          <p:cNvSpPr/>
          <p:nvPr/>
        </p:nvSpPr>
        <p:spPr>
          <a:xfrm rot="10800000">
            <a:off x="6912864" y="7653527"/>
            <a:ext cx="146304" cy="146304"/>
          </a:xfrm>
          <a:prstGeom prst="triangle">
            <a:avLst/>
          </a:prstGeom>
          <a:solidFill>
            <a:srgbClr val="07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Bus output 1195 line 1"/>
          <p:cNvCxnSpPr/>
          <p:nvPr/>
        </p:nvCxnSpPr>
        <p:spPr>
          <a:xfrm>
            <a:off x="10927080" y="7562088"/>
            <a:ext cx="0" cy="164591"/>
          </a:xfrm>
          <a:prstGeom prst="line">
            <a:avLst/>
          </a:prstGeom>
          <a:ln w="24130">
            <a:solidFill>
              <a:srgbClr val="073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Bus output 1195 arrow"/>
          <p:cNvSpPr/>
          <p:nvPr/>
        </p:nvSpPr>
        <p:spPr>
          <a:xfrm rot="10800000">
            <a:off x="10853928" y="7653527"/>
            <a:ext cx="146304" cy="146304"/>
          </a:xfrm>
          <a:prstGeom prst="triangle">
            <a:avLst/>
          </a:prstGeom>
          <a:solidFill>
            <a:srgbClr val="07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Bus output 1637 line 1"/>
          <p:cNvCxnSpPr/>
          <p:nvPr/>
        </p:nvCxnSpPr>
        <p:spPr>
          <a:xfrm>
            <a:off x="14968728" y="7562088"/>
            <a:ext cx="0" cy="164591"/>
          </a:xfrm>
          <a:prstGeom prst="line">
            <a:avLst/>
          </a:prstGeom>
          <a:ln w="24130">
            <a:solidFill>
              <a:srgbClr val="073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Bus output 1637 arrow"/>
          <p:cNvSpPr/>
          <p:nvPr/>
        </p:nvSpPr>
        <p:spPr>
          <a:xfrm rot="10800000">
            <a:off x="14895576" y="7653527"/>
            <a:ext cx="146304" cy="146304"/>
          </a:xfrm>
          <a:prstGeom prst="triangle">
            <a:avLst/>
          </a:prstGeom>
          <a:solidFill>
            <a:srgbClr val="07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Audit to trace line 1"/>
          <p:cNvCxnSpPr/>
          <p:nvPr/>
        </p:nvCxnSpPr>
        <p:spPr>
          <a:xfrm>
            <a:off x="16322040" y="6446520"/>
            <a:ext cx="0" cy="301752"/>
          </a:xfrm>
          <a:prstGeom prst="line">
            <a:avLst/>
          </a:prstGeom>
          <a:ln w="25400">
            <a:solidFill>
              <a:srgbClr val="073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Audit to trace arrow"/>
          <p:cNvSpPr/>
          <p:nvPr/>
        </p:nvSpPr>
        <p:spPr>
          <a:xfrm rot="10800000">
            <a:off x="16248888" y="6675120"/>
            <a:ext cx="146304" cy="146304"/>
          </a:xfrm>
          <a:prstGeom prst="triangle">
            <a:avLst/>
          </a:prstGeom>
          <a:solidFill>
            <a:srgbClr val="07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Reasoner feedback line 1"/>
          <p:cNvCxnSpPr/>
          <p:nvPr/>
        </p:nvCxnSpPr>
        <p:spPr>
          <a:xfrm>
            <a:off x="2679192" y="8631936"/>
            <a:ext cx="0" cy="576072"/>
          </a:xfrm>
          <a:prstGeom prst="line">
            <a:avLst/>
          </a:prstGeom>
          <a:ln w="22860">
            <a:solidFill>
              <a:srgbClr val="0734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Reasoner feedback line 2"/>
          <p:cNvCxnSpPr/>
          <p:nvPr/>
        </p:nvCxnSpPr>
        <p:spPr>
          <a:xfrm>
            <a:off x="2679192" y="9208008"/>
            <a:ext cx="923544" cy="365760"/>
          </a:xfrm>
          <a:prstGeom prst="line">
            <a:avLst/>
          </a:prstGeom>
          <a:ln w="22860">
            <a:solidFill>
              <a:srgbClr val="0734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asoner feedback arrow"/>
          <p:cNvSpPr/>
          <p:nvPr/>
        </p:nvSpPr>
        <p:spPr>
          <a:xfrm rot="5400000">
            <a:off x="3529584" y="9500616"/>
            <a:ext cx="146304" cy="146304"/>
          </a:xfrm>
          <a:prstGeom prst="triangle">
            <a:avLst/>
          </a:prstGeom>
          <a:solidFill>
            <a:srgbClr val="07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Robot feedback line 1"/>
          <p:cNvCxnSpPr/>
          <p:nvPr/>
        </p:nvCxnSpPr>
        <p:spPr>
          <a:xfrm>
            <a:off x="16066008" y="8631936"/>
            <a:ext cx="0" cy="585216"/>
          </a:xfrm>
          <a:prstGeom prst="line">
            <a:avLst/>
          </a:prstGeom>
          <a:ln w="22860">
            <a:solidFill>
              <a:srgbClr val="0734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obot feedback line 2"/>
          <p:cNvCxnSpPr/>
          <p:nvPr/>
        </p:nvCxnSpPr>
        <p:spPr>
          <a:xfrm flipH="1">
            <a:off x="15087600" y="9217152"/>
            <a:ext cx="978408" cy="356616"/>
          </a:xfrm>
          <a:prstGeom prst="line">
            <a:avLst/>
          </a:prstGeom>
          <a:ln w="22860">
            <a:solidFill>
              <a:srgbClr val="0734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bot feedback arrow"/>
          <p:cNvSpPr/>
          <p:nvPr/>
        </p:nvSpPr>
        <p:spPr>
          <a:xfrm rot="16200000">
            <a:off x="15014448" y="9500616"/>
            <a:ext cx="146304" cy="146304"/>
          </a:xfrm>
          <a:prstGeom prst="triangle">
            <a:avLst/>
          </a:prstGeom>
          <a:solidFill>
            <a:srgbClr val="07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Main title"/>
          <p:cNvSpPr txBox="1"/>
          <p:nvPr/>
        </p:nvSpPr>
        <p:spPr>
          <a:xfrm>
            <a:off x="6446520" y="-48289"/>
            <a:ext cx="5852160" cy="84638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500" b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starRoboHarness</a:t>
            </a:r>
          </a:p>
        </p:txBody>
      </p:sp>
      <p:sp>
        <p:nvSpPr>
          <p:cNvPr id="46" name="Subtitle"/>
          <p:cNvSpPr txBox="1"/>
          <p:nvPr/>
        </p:nvSpPr>
        <p:spPr>
          <a:xfrm>
            <a:off x="4663440" y="694385"/>
            <a:ext cx="9400032" cy="43088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shared execution contract for policy, reasoning, and tool-based robot control</a:t>
            </a:r>
          </a:p>
        </p:txBody>
      </p:sp>
      <p:sp>
        <p:nvSpPr>
          <p:cNvPr id="47" name="Tagline"/>
          <p:cNvSpPr txBox="1"/>
          <p:nvPr/>
        </p:nvSpPr>
        <p:spPr>
          <a:xfrm>
            <a:off x="4114800" y="1077206"/>
            <a:ext cx="10497312" cy="3693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study: simulation evaluation with explicit evidence boundaries</a:t>
            </a:r>
          </a:p>
        </p:txBody>
      </p:sp>
      <p:sp>
        <p:nvSpPr>
          <p:cNvPr id="48" name="Task and world state heading"/>
          <p:cNvSpPr txBox="1"/>
          <p:nvPr/>
        </p:nvSpPr>
        <p:spPr>
          <a:xfrm>
            <a:off x="457200" y="1676805"/>
            <a:ext cx="2560320" cy="86177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&amp;</a:t>
            </a:r>
          </a:p>
          <a:p>
            <a:pPr algn="l">
              <a:spcAft>
                <a:spcPts val="0"/>
              </a:spcAft>
            </a:pPr>
            <a:r>
              <a:rPr sz="2800" b="1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 State</a:t>
            </a:r>
          </a:p>
        </p:txBody>
      </p:sp>
      <p:cxnSp>
        <p:nvCxnSpPr>
          <p:cNvPr id="49" name="Top band divider"/>
          <p:cNvCxnSpPr/>
          <p:nvPr/>
        </p:nvCxnSpPr>
        <p:spPr>
          <a:xfrm>
            <a:off x="3310128" y="1828800"/>
            <a:ext cx="0" cy="621792"/>
          </a:xfrm>
          <a:prstGeom prst="line">
            <a:avLst/>
          </a:prstGeom>
          <a:ln w="15240">
            <a:solidFill>
              <a:srgbClr val="B17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source icon/top_task_document" descr="top_task_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636776"/>
            <a:ext cx="576072" cy="621792"/>
          </a:xfrm>
          <a:prstGeom prst="rect">
            <a:avLst/>
          </a:prstGeom>
        </p:spPr>
      </p:pic>
      <p:pic>
        <p:nvPicPr>
          <p:cNvPr id="51" name="source icon/top_observation_camera" descr="top_observation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816" y="1645920"/>
            <a:ext cx="740664" cy="612648"/>
          </a:xfrm>
          <a:prstGeom prst="rect">
            <a:avLst/>
          </a:prstGeom>
        </p:spPr>
      </p:pic>
      <p:pic>
        <p:nvPicPr>
          <p:cNvPr id="52" name="source icon/top_robot_state_arm" descr="top_robot_state_a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7352" y="1618488"/>
            <a:ext cx="822960" cy="630936"/>
          </a:xfrm>
          <a:prstGeom prst="rect">
            <a:avLst/>
          </a:prstGeom>
        </p:spPr>
      </p:pic>
      <p:pic>
        <p:nvPicPr>
          <p:cNvPr id="53" name="source icon/top_constraints_gear" descr="top_constraints_g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54912" y="1636776"/>
            <a:ext cx="731520" cy="621792"/>
          </a:xfrm>
          <a:prstGeom prst="rect">
            <a:avLst/>
          </a:prstGeom>
        </p:spPr>
      </p:pic>
      <p:sp>
        <p:nvSpPr>
          <p:cNvPr id="54" name="Top input Task"/>
          <p:cNvSpPr txBox="1"/>
          <p:nvPr/>
        </p:nvSpPr>
        <p:spPr>
          <a:xfrm>
            <a:off x="4453128" y="2266149"/>
            <a:ext cx="1033271" cy="32316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</p:txBody>
      </p:sp>
      <p:sp>
        <p:nvSpPr>
          <p:cNvPr id="55" name="Top input Observations"/>
          <p:cNvSpPr txBox="1"/>
          <p:nvPr/>
        </p:nvSpPr>
        <p:spPr>
          <a:xfrm>
            <a:off x="7077456" y="2266149"/>
            <a:ext cx="1664208" cy="32316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</p:txBody>
      </p:sp>
      <p:sp>
        <p:nvSpPr>
          <p:cNvPr id="56" name="Top input Robot State"/>
          <p:cNvSpPr txBox="1"/>
          <p:nvPr/>
        </p:nvSpPr>
        <p:spPr>
          <a:xfrm>
            <a:off x="10488168" y="2266149"/>
            <a:ext cx="1572768" cy="32316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 State</a:t>
            </a:r>
          </a:p>
        </p:txBody>
      </p:sp>
      <p:sp>
        <p:nvSpPr>
          <p:cNvPr id="57" name="Top input Constraints"/>
          <p:cNvSpPr txBox="1"/>
          <p:nvPr/>
        </p:nvSpPr>
        <p:spPr>
          <a:xfrm>
            <a:off x="13880592" y="2266149"/>
            <a:ext cx="1499616" cy="32316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</a:p>
        </p:txBody>
      </p:sp>
      <p:sp>
        <p:nvSpPr>
          <p:cNvPr id="58" name="Learning heading"/>
          <p:cNvSpPr txBox="1"/>
          <p:nvPr/>
        </p:nvSpPr>
        <p:spPr>
          <a:xfrm>
            <a:off x="374904" y="3043166"/>
            <a:ext cx="3145536" cy="3693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Reusable context</a:t>
            </a:r>
          </a:p>
        </p:txBody>
      </p:sp>
      <p:sp>
        <p:nvSpPr>
          <p:cNvPr id="59" name="Learning status"/>
          <p:cNvSpPr txBox="1"/>
          <p:nvPr/>
        </p:nvSpPr>
        <p:spPr>
          <a:xfrm>
            <a:off x="384048" y="3448848"/>
            <a:ext cx="3136392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dirty="0">
                <a:solidFill>
                  <a:srgbClr val="6960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(extension path)</a:t>
            </a:r>
          </a:p>
        </p:txBody>
      </p:sp>
      <p:sp>
        <p:nvSpPr>
          <p:cNvPr id="60" name="Learning card Demonstrations"/>
          <p:cNvSpPr/>
          <p:nvPr/>
        </p:nvSpPr>
        <p:spPr>
          <a:xfrm>
            <a:off x="356616" y="3922776"/>
            <a:ext cx="3227832" cy="886968"/>
          </a:xfrm>
          <a:prstGeom prst="roundRect">
            <a:avLst>
              <a:gd name="adj" fmla="val 4000"/>
            </a:avLst>
          </a:prstGeom>
          <a:solidFill>
            <a:srgbClr val="FBF7EB"/>
          </a:solidFill>
          <a:ln w="13970">
            <a:solidFill>
              <a:srgbClr val="D6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Learning card References"/>
          <p:cNvSpPr/>
          <p:nvPr/>
        </p:nvSpPr>
        <p:spPr>
          <a:xfrm>
            <a:off x="356616" y="4946904"/>
            <a:ext cx="3227832" cy="886968"/>
          </a:xfrm>
          <a:prstGeom prst="roundRect">
            <a:avLst>
              <a:gd name="adj" fmla="val 4000"/>
            </a:avLst>
          </a:prstGeom>
          <a:solidFill>
            <a:srgbClr val="FBF7EB"/>
          </a:solidFill>
          <a:ln w="13970">
            <a:solidFill>
              <a:srgbClr val="D6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Learning card History / Feedback"/>
          <p:cNvSpPr/>
          <p:nvPr/>
        </p:nvSpPr>
        <p:spPr>
          <a:xfrm>
            <a:off x="356616" y="5971032"/>
            <a:ext cx="3227832" cy="886968"/>
          </a:xfrm>
          <a:prstGeom prst="roundRect">
            <a:avLst>
              <a:gd name="adj" fmla="val 4000"/>
            </a:avLst>
          </a:prstGeom>
          <a:solidFill>
            <a:srgbClr val="FBF7EB"/>
          </a:solidFill>
          <a:ln w="13970">
            <a:solidFill>
              <a:srgbClr val="D6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" name="source icon/demonstrations_database" descr="demonstrations_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4032504"/>
            <a:ext cx="630936" cy="658368"/>
          </a:xfrm>
          <a:prstGeom prst="rect">
            <a:avLst/>
          </a:prstGeom>
        </p:spPr>
      </p:pic>
      <p:pic>
        <p:nvPicPr>
          <p:cNvPr id="64" name="source icon/references_image" descr="references_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065776"/>
            <a:ext cx="731520" cy="685800"/>
          </a:xfrm>
          <a:prstGeom prst="rect">
            <a:avLst/>
          </a:prstGeom>
        </p:spPr>
      </p:pic>
      <p:pic>
        <p:nvPicPr>
          <p:cNvPr id="65" name="source icon/history_feedback_chat" descr="history_feedback_cha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6" y="6099048"/>
            <a:ext cx="731520" cy="685800"/>
          </a:xfrm>
          <a:prstGeom prst="rect">
            <a:avLst/>
          </a:prstGeom>
        </p:spPr>
      </p:pic>
      <p:sp>
        <p:nvSpPr>
          <p:cNvPr id="66" name="Demonstrations"/>
          <p:cNvSpPr txBox="1"/>
          <p:nvPr/>
        </p:nvSpPr>
        <p:spPr>
          <a:xfrm>
            <a:off x="1399032" y="4216944"/>
            <a:ext cx="2075688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Demonstrations</a:t>
            </a:r>
          </a:p>
        </p:txBody>
      </p:sp>
      <p:sp>
        <p:nvSpPr>
          <p:cNvPr id="67" name="References"/>
          <p:cNvSpPr txBox="1"/>
          <p:nvPr/>
        </p:nvSpPr>
        <p:spPr>
          <a:xfrm>
            <a:off x="1417320" y="5241072"/>
            <a:ext cx="2057400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8" name="History / Feedback"/>
          <p:cNvSpPr txBox="1"/>
          <p:nvPr/>
        </p:nvSpPr>
        <p:spPr>
          <a:xfrm>
            <a:off x="1417320" y="6265200"/>
            <a:ext cx="2093976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/ Feedback</a:t>
            </a:r>
          </a:p>
        </p:txBody>
      </p:sp>
      <p:sp>
        <p:nvSpPr>
          <p:cNvPr id="69" name="Core heading"/>
          <p:cNvSpPr txBox="1"/>
          <p:nvPr/>
        </p:nvSpPr>
        <p:spPr>
          <a:xfrm>
            <a:off x="6053328" y="2922174"/>
            <a:ext cx="5943600" cy="492443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starRoboHarness Core</a:t>
            </a:r>
          </a:p>
        </p:txBody>
      </p:sp>
      <p:sp>
        <p:nvSpPr>
          <p:cNvPr id="70" name="High level reasoner card"/>
          <p:cNvSpPr/>
          <p:nvPr/>
        </p:nvSpPr>
        <p:spPr>
          <a:xfrm>
            <a:off x="4352544" y="3483864"/>
            <a:ext cx="9262872" cy="786384"/>
          </a:xfrm>
          <a:prstGeom prst="roundRect">
            <a:avLst>
              <a:gd name="adj" fmla="val 4000"/>
            </a:avLst>
          </a:prstGeom>
          <a:solidFill>
            <a:srgbClr val="F5E9DF"/>
          </a:solidFill>
          <a:ln w="15875">
            <a:solidFill>
              <a:srgbClr val="A47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High level reasoner"/>
          <p:cNvSpPr txBox="1"/>
          <p:nvPr/>
        </p:nvSpPr>
        <p:spPr>
          <a:xfrm>
            <a:off x="5376672" y="3542741"/>
            <a:ext cx="7214616" cy="43088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Reasoning and tool selection</a:t>
            </a:r>
          </a:p>
        </p:txBody>
      </p:sp>
      <p:sp>
        <p:nvSpPr>
          <p:cNvPr id="72" name="Reasoner model list"/>
          <p:cNvSpPr txBox="1"/>
          <p:nvPr/>
        </p:nvSpPr>
        <p:spPr>
          <a:xfrm>
            <a:off x="6080760" y="3928907"/>
            <a:ext cx="5833872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GPT-6 · Claude · Gemini · Qwen · Open Models · …</a:t>
            </a:r>
          </a:p>
        </p:txBody>
      </p:sp>
      <p:sp>
        <p:nvSpPr>
          <p:cNvPr id="73" name="Execution router card"/>
          <p:cNvSpPr/>
          <p:nvPr/>
        </p:nvSpPr>
        <p:spPr>
          <a:xfrm>
            <a:off x="4343400" y="4471416"/>
            <a:ext cx="9262872" cy="649224"/>
          </a:xfrm>
          <a:prstGeom prst="roundRect">
            <a:avLst>
              <a:gd name="adj" fmla="val 4000"/>
            </a:avLst>
          </a:prstGeom>
          <a:solidFill>
            <a:srgbClr val="F9F3E7"/>
          </a:solidFill>
          <a:ln w="15240">
            <a:solidFill>
              <a:srgbClr val="948C7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outer heading"/>
          <p:cNvSpPr txBox="1"/>
          <p:nvPr/>
        </p:nvSpPr>
        <p:spPr>
          <a:xfrm>
            <a:off x="5449824" y="4547577"/>
            <a:ext cx="7031736" cy="32316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 and tool router</a:t>
            </a:r>
          </a:p>
        </p:txBody>
      </p:sp>
      <p:sp>
        <p:nvSpPr>
          <p:cNvPr id="75" name="Router status"/>
          <p:cNvSpPr txBox="1"/>
          <p:nvPr/>
        </p:nvSpPr>
        <p:spPr>
          <a:xfrm>
            <a:off x="8156448" y="4836060"/>
            <a:ext cx="2176272" cy="2308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(shared contract)</a:t>
            </a:r>
          </a:p>
        </p:txBody>
      </p:sp>
      <p:sp>
        <p:nvSpPr>
          <p:cNvPr id="76" name="Mode card VLM Direct Control"/>
          <p:cNvSpPr/>
          <p:nvPr/>
        </p:nvSpPr>
        <p:spPr>
          <a:xfrm>
            <a:off x="4197096" y="5495544"/>
            <a:ext cx="2295144" cy="1252728"/>
          </a:xfrm>
          <a:prstGeom prst="roundRect">
            <a:avLst>
              <a:gd name="adj" fmla="val 4000"/>
            </a:avLst>
          </a:prstGeom>
          <a:solidFill>
            <a:srgbClr val="FFF1D1"/>
          </a:solidFill>
          <a:ln w="17780">
            <a:solidFill>
              <a:srgbClr val="E7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Mode card Hybrid Policy Supervision"/>
          <p:cNvSpPr/>
          <p:nvPr/>
        </p:nvSpPr>
        <p:spPr>
          <a:xfrm>
            <a:off x="6629400" y="5495544"/>
            <a:ext cx="2423160" cy="1252728"/>
          </a:xfrm>
          <a:prstGeom prst="roundRect">
            <a:avLst>
              <a:gd name="adj" fmla="val 4000"/>
            </a:avLst>
          </a:prstGeom>
          <a:solidFill>
            <a:srgbClr val="EFFBFF"/>
          </a:solidFill>
          <a:ln w="17780">
            <a:solidFill>
              <a:srgbClr val="21A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Mode card Agentic Tool Use"/>
          <p:cNvSpPr/>
          <p:nvPr/>
        </p:nvSpPr>
        <p:spPr>
          <a:xfrm>
            <a:off x="9180576" y="5495544"/>
            <a:ext cx="2322576" cy="1252728"/>
          </a:xfrm>
          <a:prstGeom prst="roundRect">
            <a:avLst>
              <a:gd name="adj" fmla="val 4000"/>
            </a:avLst>
          </a:prstGeom>
          <a:solidFill>
            <a:srgbClr val="F7F1E7"/>
          </a:solidFill>
          <a:ln w="17780">
            <a:solidFill>
              <a:srgbClr val="A79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Mode card VLA / WAM Policy"/>
          <p:cNvSpPr/>
          <p:nvPr/>
        </p:nvSpPr>
        <p:spPr>
          <a:xfrm>
            <a:off x="11640312" y="5495544"/>
            <a:ext cx="2103120" cy="1252728"/>
          </a:xfrm>
          <a:prstGeom prst="roundRect">
            <a:avLst>
              <a:gd name="adj" fmla="val 4000"/>
            </a:avLst>
          </a:prstGeom>
          <a:solidFill>
            <a:srgbClr val="EEF5E9"/>
          </a:solidFill>
          <a:ln w="17780">
            <a:solidFill>
              <a:srgbClr val="71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VLM Direct Control"/>
          <p:cNvSpPr txBox="1"/>
          <p:nvPr/>
        </p:nvSpPr>
        <p:spPr>
          <a:xfrm>
            <a:off x="4590288" y="5390719"/>
            <a:ext cx="1508760" cy="877163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VLM</a:t>
            </a:r>
          </a:p>
          <a:p>
            <a:pPr algn="ctr">
              <a:spcAft>
                <a:spcPts val="0"/>
              </a:spcAft>
            </a:pPr>
            <a:r>
              <a:rPr sz="1900" b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Control</a:t>
            </a:r>
          </a:p>
        </p:txBody>
      </p:sp>
      <p:sp>
        <p:nvSpPr>
          <p:cNvPr id="81" name="Hybrid Policy Supervision"/>
          <p:cNvSpPr txBox="1"/>
          <p:nvPr/>
        </p:nvSpPr>
        <p:spPr>
          <a:xfrm>
            <a:off x="6995160" y="5541264"/>
            <a:ext cx="1709928" cy="58521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060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Policy</a:t>
            </a:r>
          </a:p>
          <a:p>
            <a:pPr algn="ctr">
              <a:spcAft>
                <a:spcPts val="0"/>
              </a:spcAft>
            </a:pPr>
            <a:r>
              <a:rPr sz="1900" b="1">
                <a:solidFill>
                  <a:srgbClr val="0060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Supervision</a:t>
            </a:r>
          </a:p>
        </p:txBody>
      </p:sp>
      <p:sp>
        <p:nvSpPr>
          <p:cNvPr id="82" name="Agentic Tool Use"/>
          <p:cNvSpPr txBox="1"/>
          <p:nvPr/>
        </p:nvSpPr>
        <p:spPr>
          <a:xfrm>
            <a:off x="9592056" y="5541264"/>
            <a:ext cx="1508760" cy="58521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Agentic</a:t>
            </a:r>
          </a:p>
          <a:p>
            <a:pPr algn="ctr">
              <a:spcAft>
                <a:spcPts val="0"/>
              </a:spcAft>
            </a:pPr>
            <a:r>
              <a:rPr sz="1900" b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 Use</a:t>
            </a:r>
          </a:p>
        </p:txBody>
      </p:sp>
      <p:sp>
        <p:nvSpPr>
          <p:cNvPr id="83" name="VLA / WAM Policy"/>
          <p:cNvSpPr txBox="1"/>
          <p:nvPr/>
        </p:nvSpPr>
        <p:spPr>
          <a:xfrm>
            <a:off x="11951208" y="5541264"/>
            <a:ext cx="1490472" cy="58521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 / WAM</a:t>
            </a:r>
          </a:p>
          <a:p>
            <a:pPr algn="ctr">
              <a:spcAft>
                <a:spcPts val="0"/>
              </a:spcAft>
            </a:pPr>
            <a:r>
              <a:rPr sz="1900" b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</a:p>
        </p:txBody>
      </p:sp>
      <p:pic>
        <p:nvPicPr>
          <p:cNvPr id="84" name="source icon/mode_vlm_logo" descr="mode_vlm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9976" y="6117336"/>
            <a:ext cx="630936" cy="603504"/>
          </a:xfrm>
          <a:prstGeom prst="rect">
            <a:avLst/>
          </a:prstGeom>
        </p:spPr>
      </p:pic>
      <p:pic>
        <p:nvPicPr>
          <p:cNvPr id="85" name="source icon/mode_hybrid_logo" descr="mode_hybrid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2280" y="6126480"/>
            <a:ext cx="621792" cy="594360"/>
          </a:xfrm>
          <a:prstGeom prst="rect">
            <a:avLst/>
          </a:prstGeom>
        </p:spPr>
      </p:pic>
      <p:sp>
        <p:nvSpPr>
          <p:cNvPr id="86" name="VLM model"/>
          <p:cNvSpPr txBox="1"/>
          <p:nvPr/>
        </p:nvSpPr>
        <p:spPr>
          <a:xfrm>
            <a:off x="5029200" y="6217360"/>
            <a:ext cx="1325880" cy="43088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GPT-6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control</a:t>
            </a:r>
          </a:p>
        </p:txBody>
      </p:sp>
      <p:sp>
        <p:nvSpPr>
          <p:cNvPr id="87" name="Hybrid model"/>
          <p:cNvSpPr txBox="1"/>
          <p:nvPr/>
        </p:nvSpPr>
        <p:spPr>
          <a:xfrm>
            <a:off x="7479792" y="6232749"/>
            <a:ext cx="1472184" cy="40011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GPT-6 + starVLA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/ correction</a:t>
            </a:r>
          </a:p>
        </p:txBody>
      </p:sp>
      <p:sp>
        <p:nvSpPr>
          <p:cNvPr id="88" name="Agentic tools"/>
          <p:cNvSpPr txBox="1"/>
          <p:nvPr/>
        </p:nvSpPr>
        <p:spPr>
          <a:xfrm>
            <a:off x="9299448" y="6155805"/>
            <a:ext cx="2084831" cy="55399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r>
              <a:t>downstream tools and controllers</a:t>
            </a:r>
          </a:p>
        </p:txBody>
      </p:sp>
      <p:sp>
        <p:nvSpPr>
          <p:cNvPr id="89" name="VLA policy models"/>
          <p:cNvSpPr txBox="1"/>
          <p:nvPr/>
        </p:nvSpPr>
        <p:spPr>
          <a:xfrm>
            <a:off x="11731752" y="6174093"/>
            <a:ext cx="1911095" cy="55399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0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StarVLA · pai0.5 ·</a:t>
            </a:r>
          </a:p>
          <a:p>
            <a:pPr algn="ctr">
              <a:spcAft>
                <a:spcPts val="0"/>
              </a:spcAft>
            </a:pPr>
            <a:r>
              <a:rPr b="0" dirty="0" err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OpenWAM</a:t>
            </a:r>
            <a:r>
              <a:rPr b="0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…</a:t>
            </a:r>
          </a:p>
        </p:txBody>
      </p:sp>
      <p:sp>
        <p:nvSpPr>
          <p:cNvPr id="90" name="Deployment layer"/>
          <p:cNvSpPr txBox="1"/>
          <p:nvPr/>
        </p:nvSpPr>
        <p:spPr>
          <a:xfrm>
            <a:off x="5705856" y="7069871"/>
            <a:ext cx="3575304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 adapters</a:t>
            </a:r>
          </a:p>
        </p:txBody>
      </p:sp>
      <p:sp>
        <p:nvSpPr>
          <p:cNvPr id="91" name="Deployment subtitle"/>
          <p:cNvSpPr txBox="1"/>
          <p:nvPr/>
        </p:nvSpPr>
        <p:spPr>
          <a:xfrm>
            <a:off x="9317735" y="7079016"/>
            <a:ext cx="3933315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(benchmark-specific action interface)</a:t>
            </a:r>
          </a:p>
        </p:txBody>
      </p:sp>
      <p:sp>
        <p:nvSpPr>
          <p:cNvPr id="92" name="Audit heading"/>
          <p:cNvSpPr txBox="1"/>
          <p:nvPr/>
        </p:nvSpPr>
        <p:spPr>
          <a:xfrm>
            <a:off x="14237208" y="3080188"/>
            <a:ext cx="4270248" cy="276999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A0E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Trace, evaluation, and audit</a:t>
            </a:r>
          </a:p>
        </p:txBody>
      </p:sp>
      <p:sp>
        <p:nvSpPr>
          <p:cNvPr id="93" name="Audit card Execution Monitoring"/>
          <p:cNvSpPr/>
          <p:nvPr/>
        </p:nvSpPr>
        <p:spPr>
          <a:xfrm>
            <a:off x="14273784" y="3483864"/>
            <a:ext cx="4151376" cy="886968"/>
          </a:xfrm>
          <a:prstGeom prst="roundRect">
            <a:avLst>
              <a:gd name="adj" fmla="val 4000"/>
            </a:avLst>
          </a:prstGeom>
          <a:solidFill>
            <a:srgbClr val="FFF3E9"/>
          </a:solidFill>
          <a:ln w="13970">
            <a:solidFill>
              <a:srgbClr val="FA9E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Audit card Evaluation &amp; Benchmarking"/>
          <p:cNvSpPr/>
          <p:nvPr/>
        </p:nvSpPr>
        <p:spPr>
          <a:xfrm>
            <a:off x="14273784" y="4471416"/>
            <a:ext cx="4151376" cy="886968"/>
          </a:xfrm>
          <a:prstGeom prst="roundRect">
            <a:avLst>
              <a:gd name="adj" fmla="val 4000"/>
            </a:avLst>
          </a:prstGeom>
          <a:solidFill>
            <a:srgbClr val="FFF3E9"/>
          </a:solidFill>
          <a:ln w="13970">
            <a:solidFill>
              <a:srgbClr val="FA9E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Audit card Safety &amp; Risk Analysis"/>
          <p:cNvSpPr/>
          <p:nvPr/>
        </p:nvSpPr>
        <p:spPr>
          <a:xfrm>
            <a:off x="14273784" y="5495544"/>
            <a:ext cx="4151376" cy="886968"/>
          </a:xfrm>
          <a:prstGeom prst="roundRect">
            <a:avLst>
              <a:gd name="adj" fmla="val 4000"/>
            </a:avLst>
          </a:prstGeom>
          <a:solidFill>
            <a:srgbClr val="FFF3E9"/>
          </a:solidFill>
          <a:ln w="13970">
            <a:solidFill>
              <a:srgbClr val="FA9E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6" name="source icon/audit_monitor_chart" descr="audit_monitor_char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56664" y="3630168"/>
            <a:ext cx="640080" cy="621792"/>
          </a:xfrm>
          <a:prstGeom prst="rect">
            <a:avLst/>
          </a:prstGeom>
        </p:spPr>
      </p:pic>
      <p:pic>
        <p:nvPicPr>
          <p:cNvPr id="97" name="source icon/audit_evaluation_document" descr="audit_evaluation_documen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56664" y="4590288"/>
            <a:ext cx="740664" cy="731520"/>
          </a:xfrm>
          <a:prstGeom prst="rect">
            <a:avLst/>
          </a:prstGeom>
        </p:spPr>
      </p:pic>
      <p:pic>
        <p:nvPicPr>
          <p:cNvPr id="98" name="source icon/audit_safety_shield" descr="audit_safety_shiel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01800" y="5586984"/>
            <a:ext cx="786384" cy="758952"/>
          </a:xfrm>
          <a:prstGeom prst="rect">
            <a:avLst/>
          </a:prstGeom>
        </p:spPr>
      </p:pic>
      <p:sp>
        <p:nvSpPr>
          <p:cNvPr id="99" name="Execution Monitoring"/>
          <p:cNvSpPr txBox="1"/>
          <p:nvPr/>
        </p:nvSpPr>
        <p:spPr>
          <a:xfrm>
            <a:off x="15389351" y="3637527"/>
            <a:ext cx="2916936" cy="3693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monitoring</a:t>
            </a:r>
          </a:p>
        </p:txBody>
      </p:sp>
      <p:sp>
        <p:nvSpPr>
          <p:cNvPr id="100" name="Traces metrics"/>
          <p:cNvSpPr txBox="1"/>
          <p:nvPr/>
        </p:nvSpPr>
        <p:spPr>
          <a:xfrm>
            <a:off x="15380208" y="3965483"/>
            <a:ext cx="2862072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Traces &amp; metrics</a:t>
            </a:r>
          </a:p>
        </p:txBody>
      </p:sp>
      <p:sp>
        <p:nvSpPr>
          <p:cNvPr id="101" name="Evaluation Benchmarking"/>
          <p:cNvSpPr txBox="1"/>
          <p:nvPr/>
        </p:nvSpPr>
        <p:spPr>
          <a:xfrm>
            <a:off x="15188186" y="4610145"/>
            <a:ext cx="3181348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and benchmarking</a:t>
            </a:r>
          </a:p>
        </p:txBody>
      </p:sp>
      <p:sp>
        <p:nvSpPr>
          <p:cNvPr id="102" name="Standardized benchmarks"/>
          <p:cNvSpPr txBox="1"/>
          <p:nvPr/>
        </p:nvSpPr>
        <p:spPr>
          <a:xfrm>
            <a:off x="15389351" y="4966751"/>
            <a:ext cx="2871216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benchmarks</a:t>
            </a:r>
          </a:p>
        </p:txBody>
      </p:sp>
      <p:sp>
        <p:nvSpPr>
          <p:cNvPr id="103" name="Safety Risk Analysis"/>
          <p:cNvSpPr txBox="1"/>
          <p:nvPr/>
        </p:nvSpPr>
        <p:spPr>
          <a:xfrm>
            <a:off x="15389351" y="5689128"/>
            <a:ext cx="2944368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validation (future)</a:t>
            </a:r>
          </a:p>
        </p:txBody>
      </p:sp>
      <p:sp>
        <p:nvSpPr>
          <p:cNvPr id="104" name="Safety checks alerts"/>
          <p:cNvSpPr txBox="1"/>
          <p:nvPr/>
        </p:nvSpPr>
        <p:spPr>
          <a:xfrm>
            <a:off x="15389351" y="6000023"/>
            <a:ext cx="2907792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deployment checks</a:t>
            </a:r>
          </a:p>
        </p:txBody>
      </p:sp>
      <p:sp>
        <p:nvSpPr>
          <p:cNvPr id="105" name="Execution trace card"/>
          <p:cNvSpPr/>
          <p:nvPr/>
        </p:nvSpPr>
        <p:spPr>
          <a:xfrm>
            <a:off x="14273784" y="6757416"/>
            <a:ext cx="4151376" cy="557784"/>
          </a:xfrm>
          <a:prstGeom prst="roundRect">
            <a:avLst>
              <a:gd name="adj" fmla="val 4000"/>
            </a:avLst>
          </a:prstGeom>
          <a:solidFill>
            <a:srgbClr val="FBE8DE"/>
          </a:solidFill>
          <a:ln w="15875">
            <a:solidFill>
              <a:srgbClr val="D25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Execution Trace"/>
          <p:cNvSpPr txBox="1"/>
          <p:nvPr/>
        </p:nvSpPr>
        <p:spPr>
          <a:xfrm>
            <a:off x="14932151" y="6859336"/>
            <a:ext cx="2880360" cy="353943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dirty="0">
                <a:solidFill>
                  <a:srgbClr val="7A11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Trace and native receipt</a:t>
            </a:r>
          </a:p>
        </p:txBody>
      </p:sp>
      <p:sp>
        <p:nvSpPr>
          <p:cNvPr id="107" name="Output card Any Reasoner"/>
          <p:cNvSpPr/>
          <p:nvPr/>
        </p:nvSpPr>
        <p:spPr>
          <a:xfrm>
            <a:off x="1353312" y="7735824"/>
            <a:ext cx="3639312" cy="868680"/>
          </a:xfrm>
          <a:prstGeom prst="roundRect">
            <a:avLst>
              <a:gd name="adj" fmla="val 4000"/>
            </a:avLst>
          </a:prstGeom>
          <a:solidFill>
            <a:srgbClr val="EFF3E8"/>
          </a:solidFill>
          <a:ln w="16510">
            <a:solidFill>
              <a:srgbClr val="71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Output card Any Tools"/>
          <p:cNvSpPr/>
          <p:nvPr/>
        </p:nvSpPr>
        <p:spPr>
          <a:xfrm>
            <a:off x="5102352" y="7735824"/>
            <a:ext cx="3749039" cy="868680"/>
          </a:xfrm>
          <a:prstGeom prst="roundRect">
            <a:avLst>
              <a:gd name="adj" fmla="val 4000"/>
            </a:avLst>
          </a:prstGeom>
          <a:solidFill>
            <a:srgbClr val="F0F6F3"/>
          </a:solidFill>
          <a:ln w="16510">
            <a:solidFill>
              <a:srgbClr val="4F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Output card Any Benchmarks"/>
          <p:cNvSpPr/>
          <p:nvPr/>
        </p:nvSpPr>
        <p:spPr>
          <a:xfrm>
            <a:off x="8979408" y="7735824"/>
            <a:ext cx="3886200" cy="868680"/>
          </a:xfrm>
          <a:prstGeom prst="roundRect">
            <a:avLst>
              <a:gd name="adj" fmla="val 4000"/>
            </a:avLst>
          </a:prstGeom>
          <a:solidFill>
            <a:srgbClr val="F7EEEA"/>
          </a:solidFill>
          <a:ln w="16510">
            <a:solidFill>
              <a:srgbClr val="A17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Output card Any Real Robot"/>
          <p:cNvSpPr/>
          <p:nvPr/>
        </p:nvSpPr>
        <p:spPr>
          <a:xfrm>
            <a:off x="12975336" y="7735824"/>
            <a:ext cx="4370832" cy="868680"/>
          </a:xfrm>
          <a:prstGeom prst="roundRect">
            <a:avLst>
              <a:gd name="adj" fmla="val 4000"/>
            </a:avLst>
          </a:prstGeom>
          <a:solidFill>
            <a:srgbClr val="F4F0E6"/>
          </a:solidFill>
          <a:ln w="16510">
            <a:solidFill>
              <a:srgbClr val="9F8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1" name="source icon/output_reasoner_logo" descr="output_reasoner_log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70632" y="7772400"/>
            <a:ext cx="658368" cy="466344"/>
          </a:xfrm>
          <a:prstGeom prst="rect">
            <a:avLst/>
          </a:prstGeom>
        </p:spPr>
      </p:pic>
      <p:pic>
        <p:nvPicPr>
          <p:cNvPr id="112" name="source icon/output_tools_wrench" descr="output_tools_wrench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7772400"/>
            <a:ext cx="676656" cy="466344"/>
          </a:xfrm>
          <a:prstGeom prst="rect">
            <a:avLst/>
          </a:prstGeom>
        </p:spPr>
      </p:pic>
      <p:pic>
        <p:nvPicPr>
          <p:cNvPr id="113" name="source icon/output_benchmarks_chart" descr="output_benchmarks_char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33888" y="7772400"/>
            <a:ext cx="676656" cy="457200"/>
          </a:xfrm>
          <a:prstGeom prst="rect">
            <a:avLst/>
          </a:prstGeom>
        </p:spPr>
      </p:pic>
      <p:pic>
        <p:nvPicPr>
          <p:cNvPr id="114" name="source icon/output_robot_head" descr="output_robot_hea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712696" y="7772400"/>
            <a:ext cx="630936" cy="466344"/>
          </a:xfrm>
          <a:prstGeom prst="rect">
            <a:avLst/>
          </a:prstGeom>
        </p:spPr>
      </p:pic>
      <p:sp>
        <p:nvSpPr>
          <p:cNvPr id="115" name="Output Any Reasoner"/>
          <p:cNvSpPr txBox="1"/>
          <p:nvPr/>
        </p:nvSpPr>
        <p:spPr>
          <a:xfrm>
            <a:off x="2039112" y="8232609"/>
            <a:ext cx="2276856" cy="32316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Reasoner</a:t>
            </a:r>
          </a:p>
        </p:txBody>
      </p:sp>
      <p:sp>
        <p:nvSpPr>
          <p:cNvPr id="116" name="Output Any Tools"/>
          <p:cNvSpPr txBox="1"/>
          <p:nvPr/>
        </p:nvSpPr>
        <p:spPr>
          <a:xfrm>
            <a:off x="6135624" y="8232609"/>
            <a:ext cx="1700784" cy="32316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Tools</a:t>
            </a:r>
          </a:p>
        </p:txBody>
      </p:sp>
      <p:sp>
        <p:nvSpPr>
          <p:cNvPr id="117" name="Output Any Benchmarks"/>
          <p:cNvSpPr txBox="1"/>
          <p:nvPr/>
        </p:nvSpPr>
        <p:spPr>
          <a:xfrm>
            <a:off x="9738360" y="8232609"/>
            <a:ext cx="2331720" cy="32316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Benchmarks</a:t>
            </a:r>
          </a:p>
        </p:txBody>
      </p:sp>
      <p:sp>
        <p:nvSpPr>
          <p:cNvPr id="118" name="Output Any Real Robot"/>
          <p:cNvSpPr txBox="1"/>
          <p:nvPr/>
        </p:nvSpPr>
        <p:spPr>
          <a:xfrm>
            <a:off x="14036040" y="8232609"/>
            <a:ext cx="2295144" cy="32316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Real Robot</a:t>
            </a:r>
          </a:p>
        </p:txBody>
      </p:sp>
      <p:pic>
        <p:nvPicPr>
          <p:cNvPr id="119" name="source icon/human_loop_cycle" descr="human_loop_cycl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01384" y="8823960"/>
            <a:ext cx="1152144" cy="841248"/>
          </a:xfrm>
          <a:prstGeom prst="rect">
            <a:avLst/>
          </a:prstGeom>
        </p:spPr>
      </p:pic>
      <p:sp>
        <p:nvSpPr>
          <p:cNvPr id="120" name="Human in loop heading"/>
          <p:cNvSpPr txBox="1"/>
          <p:nvPr/>
        </p:nvSpPr>
        <p:spPr>
          <a:xfrm>
            <a:off x="7653527" y="8919635"/>
            <a:ext cx="5961888" cy="38472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 extension</a:t>
            </a:r>
          </a:p>
        </p:txBody>
      </p:sp>
      <p:sp>
        <p:nvSpPr>
          <p:cNvPr id="121" name="Human in loop subtitle"/>
          <p:cNvSpPr txBox="1"/>
          <p:nvPr/>
        </p:nvSpPr>
        <p:spPr>
          <a:xfrm>
            <a:off x="7671816" y="9314724"/>
            <a:ext cx="6135624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Reusable artifacts and audited rules</a:t>
            </a:r>
          </a:p>
        </p:txBody>
      </p:sp>
      <p:sp>
        <p:nvSpPr>
          <p:cNvPr id="122" name="Ecosystem card Community"/>
          <p:cNvSpPr/>
          <p:nvPr/>
        </p:nvSpPr>
        <p:spPr>
          <a:xfrm>
            <a:off x="3767328" y="9665208"/>
            <a:ext cx="2642616" cy="585216"/>
          </a:xfrm>
          <a:prstGeom prst="roundRect">
            <a:avLst>
              <a:gd name="adj" fmla="val 4000"/>
            </a:avLst>
          </a:prstGeom>
          <a:solidFill>
            <a:srgbClr val="EFF3E8"/>
          </a:solidFill>
          <a:ln w="15240">
            <a:solidFill>
              <a:srgbClr val="71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Ecosystem card Academia"/>
          <p:cNvSpPr/>
          <p:nvPr/>
        </p:nvSpPr>
        <p:spPr>
          <a:xfrm>
            <a:off x="6556248" y="9665208"/>
            <a:ext cx="2807208" cy="585216"/>
          </a:xfrm>
          <a:prstGeom prst="roundRect">
            <a:avLst>
              <a:gd name="adj" fmla="val 4000"/>
            </a:avLst>
          </a:prstGeom>
          <a:solidFill>
            <a:srgbClr val="EEF8FB"/>
          </a:solidFill>
          <a:ln w="15240">
            <a:solidFill>
              <a:srgbClr val="32A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Ecosystem card Researchers"/>
          <p:cNvSpPr/>
          <p:nvPr/>
        </p:nvSpPr>
        <p:spPr>
          <a:xfrm>
            <a:off x="9537192" y="9665208"/>
            <a:ext cx="2715768" cy="585216"/>
          </a:xfrm>
          <a:prstGeom prst="roundRect">
            <a:avLst>
              <a:gd name="adj" fmla="val 4000"/>
            </a:avLst>
          </a:prstGeom>
          <a:solidFill>
            <a:srgbClr val="F5EBEB"/>
          </a:solidFill>
          <a:ln w="15240">
            <a:solidFill>
              <a:srgbClr val="A27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Ecosystem card Industry"/>
          <p:cNvSpPr/>
          <p:nvPr/>
        </p:nvSpPr>
        <p:spPr>
          <a:xfrm>
            <a:off x="12408408" y="9665208"/>
            <a:ext cx="2514600" cy="585216"/>
          </a:xfrm>
          <a:prstGeom prst="roundRect">
            <a:avLst>
              <a:gd name="adj" fmla="val 4000"/>
            </a:avLst>
          </a:prstGeom>
          <a:solidFill>
            <a:srgbClr val="FFF0E8"/>
          </a:solidFill>
          <a:ln w="15240">
            <a:solidFill>
              <a:srgbClr val="E47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6" name="source icon/human_community" descr="human_community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05656" y="9710928"/>
            <a:ext cx="640080" cy="484632"/>
          </a:xfrm>
          <a:prstGeom prst="rect">
            <a:avLst/>
          </a:prstGeom>
        </p:spPr>
      </p:pic>
      <p:pic>
        <p:nvPicPr>
          <p:cNvPr id="127" name="source icon/human_academia" descr="human_academia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15200" y="9793224"/>
            <a:ext cx="548640" cy="411480"/>
          </a:xfrm>
          <a:prstGeom prst="rect">
            <a:avLst/>
          </a:prstGeom>
        </p:spPr>
      </p:pic>
      <p:pic>
        <p:nvPicPr>
          <p:cNvPr id="128" name="source icon/human_researchers" descr="human_researchers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30384" y="9710928"/>
            <a:ext cx="594360" cy="521207"/>
          </a:xfrm>
          <a:prstGeom prst="rect">
            <a:avLst/>
          </a:prstGeom>
        </p:spPr>
      </p:pic>
      <p:pic>
        <p:nvPicPr>
          <p:cNvPr id="129" name="source icon/human_industry" descr="human_industry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902184" y="9692640"/>
            <a:ext cx="667512" cy="539496"/>
          </a:xfrm>
          <a:prstGeom prst="rect">
            <a:avLst/>
          </a:prstGeom>
        </p:spPr>
      </p:pic>
      <p:sp>
        <p:nvSpPr>
          <p:cNvPr id="130" name="Ecosystem Community"/>
          <p:cNvSpPr txBox="1"/>
          <p:nvPr/>
        </p:nvSpPr>
        <p:spPr>
          <a:xfrm>
            <a:off x="4745736" y="9813072"/>
            <a:ext cx="1563624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</a:t>
            </a:r>
          </a:p>
        </p:txBody>
      </p:sp>
      <p:sp>
        <p:nvSpPr>
          <p:cNvPr id="131" name="Ecosystem Academia"/>
          <p:cNvSpPr txBox="1"/>
          <p:nvPr/>
        </p:nvSpPr>
        <p:spPr>
          <a:xfrm>
            <a:off x="7936992" y="9813072"/>
            <a:ext cx="1353312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Academia</a:t>
            </a:r>
          </a:p>
        </p:txBody>
      </p:sp>
      <p:sp>
        <p:nvSpPr>
          <p:cNvPr id="132" name="Ecosystem Researchers"/>
          <p:cNvSpPr txBox="1"/>
          <p:nvPr/>
        </p:nvSpPr>
        <p:spPr>
          <a:xfrm>
            <a:off x="10479024" y="9813072"/>
            <a:ext cx="1682496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Researchers</a:t>
            </a:r>
          </a:p>
        </p:txBody>
      </p:sp>
      <p:sp>
        <p:nvSpPr>
          <p:cNvPr id="133" name="Ecosystem Industry"/>
          <p:cNvSpPr txBox="1"/>
          <p:nvPr/>
        </p:nvSpPr>
        <p:spPr>
          <a:xfrm>
            <a:off x="13560552" y="9813072"/>
            <a:ext cx="1225296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</a:p>
        </p:txBody>
      </p:sp>
      <p:sp>
        <p:nvSpPr>
          <p:cNvPr id="134" name="Legend enabled swatch"/>
          <p:cNvSpPr/>
          <p:nvPr/>
        </p:nvSpPr>
        <p:spPr>
          <a:xfrm>
            <a:off x="15636239" y="9665987"/>
            <a:ext cx="512064" cy="283464"/>
          </a:xfrm>
          <a:prstGeom prst="roundRect">
            <a:avLst>
              <a:gd name="adj" fmla="val 4000"/>
            </a:avLst>
          </a:prstGeom>
          <a:solidFill>
            <a:srgbClr val="F3E9D7"/>
          </a:solidFill>
          <a:ln w="13970">
            <a:solidFill>
              <a:srgbClr val="8F8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Legend ongoing swatch"/>
          <p:cNvSpPr/>
          <p:nvPr/>
        </p:nvSpPr>
        <p:spPr>
          <a:xfrm>
            <a:off x="15636239" y="10031747"/>
            <a:ext cx="512064" cy="283464"/>
          </a:xfrm>
          <a:prstGeom prst="roundRect">
            <a:avLst>
              <a:gd name="adj" fmla="val 4000"/>
            </a:avLst>
          </a:prstGeom>
          <a:solidFill>
            <a:srgbClr val="FFF9ED"/>
          </a:solidFill>
          <a:ln w="13970">
            <a:solidFill>
              <a:srgbClr val="948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Legend enabled"/>
          <p:cNvSpPr txBox="1"/>
          <p:nvPr/>
        </p:nvSpPr>
        <p:spPr>
          <a:xfrm>
            <a:off x="16248888" y="9664648"/>
            <a:ext cx="2266950" cy="276999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0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Reported study</a:t>
            </a:r>
          </a:p>
        </p:txBody>
      </p:sp>
      <p:sp>
        <p:nvSpPr>
          <p:cNvPr id="137" name="Legend ongoing"/>
          <p:cNvSpPr txBox="1"/>
          <p:nvPr/>
        </p:nvSpPr>
        <p:spPr>
          <a:xfrm>
            <a:off x="16248887" y="10030409"/>
            <a:ext cx="2612571" cy="276999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0" dirty="0">
                <a:solidFill>
                  <a:srgbClr val="061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Extension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173</Words>
  <Application>Microsoft Macintosh PowerPoint</Application>
  <PresentationFormat>自定义</PresentationFormat>
  <Paragraphs>56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Bnzycs Vnrfks</cp:lastModifiedBy>
  <cp:revision>8</cp:revision>
  <dcterms:created xsi:type="dcterms:W3CDTF">2013-01-27T09:14:16Z</dcterms:created>
  <dcterms:modified xsi:type="dcterms:W3CDTF">2026-09-26T09:39:57Z</dcterms:modified>
  <cp:category/>
</cp:coreProperties>
</file>